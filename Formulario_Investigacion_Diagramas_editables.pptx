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432000" y="432000"/>
            <a:ext cx="14256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Arquitectura – editable</a:t>
            </a:r>
          </a:p>
        </p:txBody>
      </p:sp>
      <p:sp>
        <p:nvSpPr>
          <p:cNvPr id="3" name="header_subtitle"/>
          <p:cNvSpPr txBox="1"/>
          <p:nvPr/>
        </p:nvSpPr>
        <p:spPr>
          <a:xfrm>
            <a:off x="432000" y="1224000"/>
            <a:ext cx="1425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Diagrama construido con formas nativas para mover cajas, alinear conectores y ajustar estilo durante la revisión.</a:t>
            </a:r>
          </a:p>
        </p:txBody>
      </p:sp>
      <p:sp>
        <p:nvSpPr>
          <p:cNvPr id="4" name="context_gestion"/>
          <p:cNvSpPr/>
          <p:nvPr/>
        </p:nvSpPr>
        <p:spPr>
          <a:xfrm>
            <a:off x="859680" y="2138400"/>
            <a:ext cx="2280960" cy="846000"/>
          </a:xfrm>
          <a:prstGeom prst="round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Gestión de Investigaciones</a:t>
            </a:r>
          </a:p>
        </p:txBody>
      </p:sp>
      <p:sp>
        <p:nvSpPr>
          <p:cNvPr id="5" name="context_analista"/>
          <p:cNvSpPr/>
          <p:nvPr/>
        </p:nvSpPr>
        <p:spPr>
          <a:xfrm>
            <a:off x="3568320" y="2138400"/>
            <a:ext cx="2280960" cy="846000"/>
          </a:xfrm>
          <a:prstGeom prst="round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Investigador</a:t>
            </a:r>
          </a:p>
        </p:txBody>
      </p:sp>
      <p:sp>
        <p:nvSpPr>
          <p:cNvPr id="6" name="context_tkapp"/>
          <p:cNvSpPr/>
          <p:nvPr/>
        </p:nvSpPr>
        <p:spPr>
          <a:xfrm>
            <a:off x="6419520" y="2476800"/>
            <a:ext cx="2851200" cy="1015200"/>
          </a:xfrm>
          <a:prstGeom prst="round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Aplicación Python Tkinter GUI</a:t>
            </a:r>
            <a:br/>
            <a:r>
              <a:t>FormularioInvestigacionesFraude</a:t>
            </a:r>
          </a:p>
        </p:txBody>
      </p:sp>
      <p:sp>
        <p:nvSpPr>
          <p:cNvPr id="7" name="context_databricks"/>
          <p:cNvSpPr/>
          <p:nvPr/>
        </p:nvSpPr>
        <p:spPr>
          <a:xfrm>
            <a:off x="10126080" y="2138400"/>
            <a:ext cx="1995840" cy="846000"/>
          </a:xfrm>
          <a:prstGeom prst="round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Catálogos empresariales futuro</a:t>
            </a:r>
            <a:br/>
            <a:r>
              <a:t>Databricks Parquet/CSV</a:t>
            </a:r>
          </a:p>
        </p:txBody>
      </p:sp>
      <p:sp>
        <p:nvSpPr>
          <p:cNvPr id="8" name="context_grc"/>
          <p:cNvSpPr/>
          <p:nvPr/>
        </p:nvSpPr>
        <p:spPr>
          <a:xfrm>
            <a:off x="12407040" y="2138400"/>
            <a:ext cx="1710720" cy="846000"/>
          </a:xfrm>
          <a:prstGeom prst="round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Registro de riesgos GRC</a:t>
            </a:r>
          </a:p>
        </p:txBody>
      </p:sp>
      <p:sp>
        <p:nvSpPr>
          <p:cNvPr id="9" name="context_normdb"/>
          <p:cNvSpPr/>
          <p:nvPr/>
        </p:nvSpPr>
        <p:spPr>
          <a:xfrm>
            <a:off x="10126080" y="3322800"/>
            <a:ext cx="1995840" cy="846000"/>
          </a:xfrm>
          <a:prstGeom prst="round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Índice maestro de normas</a:t>
            </a:r>
          </a:p>
        </p:txBody>
      </p:sp>
      <p:sp>
        <p:nvSpPr>
          <p:cNvPr id="10" name="container_main"/>
          <p:cNvSpPr/>
          <p:nvPr/>
        </p:nvSpPr>
        <p:spPr>
          <a:xfrm>
            <a:off x="4138560" y="4338000"/>
            <a:ext cx="1995840" cy="761400"/>
          </a:xfrm>
          <a:prstGeom prst="roundRect">
            <a:avLst/>
          </a:prstGeom>
          <a:solidFill>
            <a:srgbClr val="ECF9EB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main.py</a:t>
            </a:r>
            <a:br/>
            <a:r>
              <a:t>Arranque Tk/Ttk</a:t>
            </a:r>
          </a:p>
        </p:txBody>
      </p:sp>
      <p:sp>
        <p:nvSpPr>
          <p:cNvPr id="11" name="container_appcore"/>
          <p:cNvSpPr/>
          <p:nvPr/>
        </p:nvSpPr>
        <p:spPr>
          <a:xfrm>
            <a:off x="6704640" y="4338000"/>
            <a:ext cx="2566080" cy="1015200"/>
          </a:xfrm>
          <a:prstGeom prst="roundRect">
            <a:avLst/>
          </a:prstGeom>
          <a:solidFill>
            <a:srgbClr val="ECF9EB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FormularioInvestigacionesFraude app.py</a:t>
            </a:r>
            <a:br/>
            <a:r>
              <a:t>Controlador</a:t>
            </a:r>
          </a:p>
        </p:txBody>
      </p:sp>
      <p:sp>
        <p:nvSpPr>
          <p:cNvPr id="12" name="container_ui"/>
          <p:cNvSpPr/>
          <p:nvPr/>
        </p:nvSpPr>
        <p:spPr>
          <a:xfrm>
            <a:off x="9840960" y="4338000"/>
            <a:ext cx="3421440" cy="1015200"/>
          </a:xfrm>
          <a:prstGeom prst="roundRect">
            <a:avLst/>
          </a:prstGeom>
          <a:solidFill>
            <a:srgbClr val="ECF9EB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ui/frames/*</a:t>
            </a:r>
            <a:br/>
            <a:r>
              <a:t>Pestañas de Caso, Clientes, Team Members, Productos, Riesgos, Normas</a:t>
            </a:r>
          </a:p>
        </p:txBody>
      </p:sp>
      <p:sp>
        <p:nvSpPr>
          <p:cNvPr id="13" name="container_services"/>
          <p:cNvSpPr/>
          <p:nvPr/>
        </p:nvSpPr>
        <p:spPr>
          <a:xfrm>
            <a:off x="1287360" y="5860800"/>
            <a:ext cx="2566080" cy="930600"/>
          </a:xfrm>
          <a:prstGeom prst="roundRect">
            <a:avLst/>
          </a:prstGeom>
          <a:solidFill>
            <a:srgbClr val="E7E7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models/*</a:t>
            </a:r>
            <a:br/>
            <a:r>
              <a:t>Catálogos y autopoblado</a:t>
            </a:r>
          </a:p>
        </p:txBody>
      </p:sp>
      <p:sp>
        <p:nvSpPr>
          <p:cNvPr id="14" name="container_validators"/>
          <p:cNvSpPr/>
          <p:nvPr/>
        </p:nvSpPr>
        <p:spPr>
          <a:xfrm>
            <a:off x="4423680" y="5860800"/>
            <a:ext cx="2566080" cy="930600"/>
          </a:xfrm>
          <a:prstGeom prst="roundRect">
            <a:avLst/>
          </a:prstGeom>
          <a:solidFill>
            <a:srgbClr val="E7E7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validators.py</a:t>
            </a:r>
            <a:br/>
            <a:r>
              <a:t>Reglas + logs</a:t>
            </a:r>
          </a:p>
        </p:txBody>
      </p:sp>
      <p:sp>
        <p:nvSpPr>
          <p:cNvPr id="15" name="container_reporting"/>
          <p:cNvSpPr/>
          <p:nvPr/>
        </p:nvSpPr>
        <p:spPr>
          <a:xfrm>
            <a:off x="7560000" y="5860800"/>
            <a:ext cx="2566080" cy="930600"/>
          </a:xfrm>
          <a:prstGeom prst="roundRect">
            <a:avLst/>
          </a:prstGeom>
          <a:solidFill>
            <a:srgbClr val="E7E7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report_builder.py</a:t>
            </a:r>
            <a:br/>
            <a:r>
              <a:t>Generación JSON/CSV/MD/DOCX</a:t>
            </a:r>
          </a:p>
        </p:txBody>
      </p:sp>
      <p:sp>
        <p:nvSpPr>
          <p:cNvPr id="16" name="container_files"/>
          <p:cNvSpPr/>
          <p:nvPr/>
        </p:nvSpPr>
        <p:spPr>
          <a:xfrm>
            <a:off x="10696320" y="5860800"/>
            <a:ext cx="2566080" cy="930600"/>
          </a:xfrm>
          <a:prstGeom prst="roundRect">
            <a:avLst/>
          </a:prstGeom>
          <a:solidFill>
            <a:srgbClr val="E7E7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Sistema de archivos</a:t>
            </a:r>
            <a:br/>
            <a:r>
              <a:t>autosave.json, autosaves/&lt;caso&gt;/auto_N.json, exports/</a:t>
            </a:r>
          </a:p>
        </p:txBody>
      </p:sp>
      <p:sp>
        <p:nvSpPr>
          <p:cNvPr id="17" name="container_external"/>
          <p:cNvSpPr/>
          <p:nvPr/>
        </p:nvSpPr>
        <p:spPr>
          <a:xfrm>
            <a:off x="13262400" y="5860800"/>
            <a:ext cx="1425600" cy="930600"/>
          </a:xfrm>
          <a:prstGeom prst="roundRect">
            <a:avLst/>
          </a:prstGeom>
          <a:solidFill>
            <a:srgbClr val="E7E7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Unidad externa</a:t>
            </a:r>
            <a:br/>
            <a:r>
              <a:t>backups y logs</a:t>
            </a:r>
          </a:p>
        </p:txBody>
      </p:sp>
      <p:sp>
        <p:nvSpPr>
          <p:cNvPr id="18" name="component_case"/>
          <p:cNvSpPr/>
          <p:nvPr/>
        </p:nvSpPr>
        <p:spPr>
          <a:xfrm>
            <a:off x="1287360" y="70452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Pestaña Caso</a:t>
            </a:r>
          </a:p>
        </p:txBody>
      </p:sp>
      <p:sp>
        <p:nvSpPr>
          <p:cNvPr id="19" name="component_client"/>
          <p:cNvSpPr/>
          <p:nvPr/>
        </p:nvSpPr>
        <p:spPr>
          <a:xfrm>
            <a:off x="3853440" y="70452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Pestaña Clientes</a:t>
            </a:r>
          </a:p>
        </p:txBody>
      </p:sp>
      <p:sp>
        <p:nvSpPr>
          <p:cNvPr id="20" name="component_team"/>
          <p:cNvSpPr/>
          <p:nvPr/>
        </p:nvSpPr>
        <p:spPr>
          <a:xfrm>
            <a:off x="6419520" y="70452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Pestaña Team Members</a:t>
            </a:r>
          </a:p>
        </p:txBody>
      </p:sp>
      <p:sp>
        <p:nvSpPr>
          <p:cNvPr id="21" name="component_product"/>
          <p:cNvSpPr/>
          <p:nvPr/>
        </p:nvSpPr>
        <p:spPr>
          <a:xfrm>
            <a:off x="8985600" y="70452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Pestaña Productos</a:t>
            </a:r>
          </a:p>
        </p:txBody>
      </p:sp>
      <p:sp>
        <p:nvSpPr>
          <p:cNvPr id="22" name="component_risk"/>
          <p:cNvSpPr/>
          <p:nvPr/>
        </p:nvSpPr>
        <p:spPr>
          <a:xfrm>
            <a:off x="11551680" y="70452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Pestaña Riesgos</a:t>
            </a:r>
          </a:p>
        </p:txBody>
      </p:sp>
      <p:sp>
        <p:nvSpPr>
          <p:cNvPr id="23" name="component_norm"/>
          <p:cNvSpPr/>
          <p:nvPr/>
        </p:nvSpPr>
        <p:spPr>
          <a:xfrm>
            <a:off x="1287360" y="80604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Pestaña Normas</a:t>
            </a:r>
          </a:p>
        </p:txBody>
      </p:sp>
      <p:sp>
        <p:nvSpPr>
          <p:cNvPr id="24" name="component_actions"/>
          <p:cNvSpPr/>
          <p:nvPr/>
        </p:nvSpPr>
        <p:spPr>
          <a:xfrm>
            <a:off x="3853440" y="80604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Tab Acciones</a:t>
            </a:r>
          </a:p>
        </p:txBody>
      </p:sp>
      <p:sp>
        <p:nvSpPr>
          <p:cNvPr id="25" name="component_summary"/>
          <p:cNvSpPr/>
          <p:nvPr/>
        </p:nvSpPr>
        <p:spPr>
          <a:xfrm>
            <a:off x="6419520" y="80604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Tab Resumen</a:t>
            </a:r>
          </a:p>
        </p:txBody>
      </p:sp>
      <p:sp>
        <p:nvSpPr>
          <p:cNvPr id="26" name="component_importer"/>
          <p:cNvSpPr/>
          <p:nvPr/>
        </p:nvSpPr>
        <p:spPr>
          <a:xfrm>
            <a:off x="8985600" y="80604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Importadores CSV</a:t>
            </a:r>
          </a:p>
        </p:txBody>
      </p:sp>
      <p:sp>
        <p:nvSpPr>
          <p:cNvPr id="27" name="component_autofill"/>
          <p:cNvSpPr/>
          <p:nvPr/>
        </p:nvSpPr>
        <p:spPr>
          <a:xfrm>
            <a:off x="11551680" y="8060400"/>
            <a:ext cx="2280960" cy="7614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Servicio de Catálogos</a:t>
            </a:r>
            <a:br/>
            <a:r>
              <a:t>Autopoblado</a:t>
            </a:r>
          </a:p>
        </p:txBody>
      </p:sp>
      <p:sp>
        <p:nvSpPr>
          <p:cNvPr id="28" name="component_autosave"/>
          <p:cNvSpPr/>
          <p:nvPr/>
        </p:nvSpPr>
        <p:spPr>
          <a:xfrm>
            <a:off x="3853440" y="9244800"/>
            <a:ext cx="2280960" cy="6768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Auto guardado temporal</a:t>
            </a:r>
          </a:p>
        </p:txBody>
      </p:sp>
      <p:sp>
        <p:nvSpPr>
          <p:cNvPr id="29" name="component_logging"/>
          <p:cNvSpPr/>
          <p:nvPr/>
        </p:nvSpPr>
        <p:spPr>
          <a:xfrm>
            <a:off x="6419520" y="9244800"/>
            <a:ext cx="2280960" cy="6768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Bitácora logs.csv</a:t>
            </a:r>
          </a:p>
        </p:txBody>
      </p:sp>
      <p:sp>
        <p:nvSpPr>
          <p:cNvPr id="30" name="component_reporter"/>
          <p:cNvSpPr/>
          <p:nvPr/>
        </p:nvSpPr>
        <p:spPr>
          <a:xfrm>
            <a:off x="8985600" y="9244800"/>
            <a:ext cx="2280960" cy="676800"/>
          </a:xfrm>
          <a:prstGeom prst="roundRect">
            <a:avLst/>
          </a:prstGeom>
          <a:solidFill>
            <a:srgbClr val="FCF3E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000000"/>
                </a:solidFill>
              </a:defRPr>
            </a:pPr>
            <a:r>
              <a:t>report_builder</a:t>
            </a:r>
          </a:p>
        </p:txBody>
      </p:sp>
      <p:cxnSp>
        <p:nvCxnSpPr>
          <p:cNvPr id="31" name="gestion_to_analista"/>
          <p:cNvCxnSpPr/>
          <p:nvPr/>
        </p:nvCxnSpPr>
        <p:spPr>
          <a:xfrm>
            <a:off x="3140640" y="2561400.0"/>
            <a:ext cx="42768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nalista_to_tkapp"/>
          <p:cNvCxnSpPr/>
          <p:nvPr/>
        </p:nvCxnSpPr>
        <p:spPr>
          <a:xfrm>
            <a:off x="5849280" y="2561400.0"/>
            <a:ext cx="570240" cy="4230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atabricks_to_tkapp"/>
          <p:cNvCxnSpPr/>
          <p:nvPr/>
        </p:nvCxnSpPr>
        <p:spPr>
          <a:xfrm flipH="1">
            <a:off x="9270720" y="2984400"/>
            <a:ext cx="1853280.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rc_to_tkapp"/>
          <p:cNvCxnSpPr/>
          <p:nvPr/>
        </p:nvCxnSpPr>
        <p:spPr>
          <a:xfrm flipH="1">
            <a:off x="9270720" y="2984400"/>
            <a:ext cx="3991680.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ormdb_to_tkapp"/>
          <p:cNvCxnSpPr/>
          <p:nvPr/>
        </p:nvCxnSpPr>
        <p:spPr>
          <a:xfrm flipH="1" flipV="1">
            <a:off x="9270720" y="2984400.0"/>
            <a:ext cx="1853280.0" cy="3384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kapp_to_main"/>
          <p:cNvCxnSpPr/>
          <p:nvPr/>
        </p:nvCxnSpPr>
        <p:spPr>
          <a:xfrm flipH="1">
            <a:off x="5136480.0" y="3492000"/>
            <a:ext cx="2708640.0" cy="846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main_to_appcore"/>
          <p:cNvCxnSpPr/>
          <p:nvPr/>
        </p:nvCxnSpPr>
        <p:spPr>
          <a:xfrm>
            <a:off x="6134400" y="4718700.0"/>
            <a:ext cx="570240" cy="1269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ppcore_to_ui"/>
          <p:cNvCxnSpPr/>
          <p:nvPr/>
        </p:nvCxnSpPr>
        <p:spPr>
          <a:xfrm>
            <a:off x="9270720" y="4845600.0"/>
            <a:ext cx="57024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ppcore_to_services"/>
          <p:cNvCxnSpPr/>
          <p:nvPr/>
        </p:nvCxnSpPr>
        <p:spPr>
          <a:xfrm flipH="1">
            <a:off x="2570400.0" y="4845600.0"/>
            <a:ext cx="4134240.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ppcore_to_validators"/>
          <p:cNvCxnSpPr/>
          <p:nvPr/>
        </p:nvCxnSpPr>
        <p:spPr>
          <a:xfrm flipH="1">
            <a:off x="5706720.0" y="4845600.0"/>
            <a:ext cx="997920.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ppcore_to_reporting"/>
          <p:cNvCxnSpPr/>
          <p:nvPr/>
        </p:nvCxnSpPr>
        <p:spPr>
          <a:xfrm>
            <a:off x="7987680.0" y="5353200"/>
            <a:ext cx="855360.0" cy="5076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porting_to_files"/>
          <p:cNvCxnSpPr/>
          <p:nvPr/>
        </p:nvCxnSpPr>
        <p:spPr>
          <a:xfrm>
            <a:off x="10126080" y="6326100.0"/>
            <a:ext cx="57024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files_to_external"/>
          <p:cNvCxnSpPr/>
          <p:nvPr/>
        </p:nvCxnSpPr>
        <p:spPr>
          <a:xfrm>
            <a:off x="13262400" y="6326100.0"/>
            <a:ext cx="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appcore_to_caseTab"/>
          <p:cNvCxnSpPr/>
          <p:nvPr/>
        </p:nvCxnSpPr>
        <p:spPr>
          <a:xfrm flipH="1">
            <a:off x="2427840.0" y="5353200"/>
            <a:ext cx="5559840.0" cy="1692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importer_to_caseTab"/>
          <p:cNvCxnSpPr/>
          <p:nvPr/>
        </p:nvCxnSpPr>
        <p:spPr>
          <a:xfrm flipH="1" flipV="1">
            <a:off x="2427840.0" y="7806600"/>
            <a:ext cx="7698240.0" cy="2538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aseTab_to_autofill"/>
          <p:cNvCxnSpPr/>
          <p:nvPr/>
        </p:nvCxnSpPr>
        <p:spPr>
          <a:xfrm>
            <a:off x="3568320" y="7425900.0"/>
            <a:ext cx="798336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appcore_to_clientTab"/>
          <p:cNvCxnSpPr/>
          <p:nvPr/>
        </p:nvCxnSpPr>
        <p:spPr>
          <a:xfrm flipH="1">
            <a:off x="4993920.0" y="5353200"/>
            <a:ext cx="2993760.0" cy="1692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importer_to_clientTab"/>
          <p:cNvCxnSpPr/>
          <p:nvPr/>
        </p:nvCxnSpPr>
        <p:spPr>
          <a:xfrm flipH="1" flipV="1">
            <a:off x="4993920.0" y="7806600"/>
            <a:ext cx="5132160.0" cy="2538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lientTab_to_autofill"/>
          <p:cNvCxnSpPr/>
          <p:nvPr/>
        </p:nvCxnSpPr>
        <p:spPr>
          <a:xfrm>
            <a:off x="6134400" y="7425900.0"/>
            <a:ext cx="541728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ppcore_to_teamTab"/>
          <p:cNvCxnSpPr/>
          <p:nvPr/>
        </p:nvCxnSpPr>
        <p:spPr>
          <a:xfrm flipH="1">
            <a:off x="7560000.0" y="5353200"/>
            <a:ext cx="427680.0" cy="1692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importer_to_teamTab"/>
          <p:cNvCxnSpPr/>
          <p:nvPr/>
        </p:nvCxnSpPr>
        <p:spPr>
          <a:xfrm flipH="1" flipV="1">
            <a:off x="7560000.0" y="7806600"/>
            <a:ext cx="2566080.0" cy="2538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teamTab_to_autofill"/>
          <p:cNvCxnSpPr/>
          <p:nvPr/>
        </p:nvCxnSpPr>
        <p:spPr>
          <a:xfrm>
            <a:off x="8700480" y="7425900.0"/>
            <a:ext cx="285120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ppcore_to_productTab"/>
          <p:cNvCxnSpPr/>
          <p:nvPr/>
        </p:nvCxnSpPr>
        <p:spPr>
          <a:xfrm>
            <a:off x="7987680.0" y="5353200"/>
            <a:ext cx="2138400.0" cy="1692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importer_to_productTab"/>
          <p:cNvCxnSpPr/>
          <p:nvPr/>
        </p:nvCxnSpPr>
        <p:spPr>
          <a:xfrm flipV="1">
            <a:off x="10126080.0" y="7806600"/>
            <a:ext cx="0.0" cy="2538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productTab_to_autofill"/>
          <p:cNvCxnSpPr/>
          <p:nvPr/>
        </p:nvCxnSpPr>
        <p:spPr>
          <a:xfrm>
            <a:off x="11266560" y="7425900.0"/>
            <a:ext cx="28512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appcore_to_riskTab"/>
          <p:cNvCxnSpPr/>
          <p:nvPr/>
        </p:nvCxnSpPr>
        <p:spPr>
          <a:xfrm>
            <a:off x="7987680.0" y="5353200"/>
            <a:ext cx="4704480.0" cy="16920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importer_to_riskTab"/>
          <p:cNvCxnSpPr/>
          <p:nvPr/>
        </p:nvCxnSpPr>
        <p:spPr>
          <a:xfrm flipV="1">
            <a:off x="10126080.0" y="7806600"/>
            <a:ext cx="2566080.0" cy="2538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riskTab_to_autofill"/>
          <p:cNvCxnSpPr/>
          <p:nvPr/>
        </p:nvCxnSpPr>
        <p:spPr>
          <a:xfrm flipH="1">
            <a:off x="11551680" y="7425900.0"/>
            <a:ext cx="2280960" cy="10152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appcore_to_normTab"/>
          <p:cNvCxnSpPr/>
          <p:nvPr/>
        </p:nvCxnSpPr>
        <p:spPr>
          <a:xfrm flipH="1">
            <a:off x="2427840.0" y="5353200"/>
            <a:ext cx="5559840.0" cy="27072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importer_to_normTab"/>
          <p:cNvCxnSpPr/>
          <p:nvPr/>
        </p:nvCxnSpPr>
        <p:spPr>
          <a:xfrm flipH="1">
            <a:off x="2427840.0" y="8060400"/>
            <a:ext cx="7698240.0" cy="7614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ormTab_to_autofill"/>
          <p:cNvCxnSpPr/>
          <p:nvPr/>
        </p:nvCxnSpPr>
        <p:spPr>
          <a:xfrm>
            <a:off x="3568320" y="8441100.0"/>
            <a:ext cx="798336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appcore_to_actions"/>
          <p:cNvCxnSpPr/>
          <p:nvPr/>
        </p:nvCxnSpPr>
        <p:spPr>
          <a:xfrm flipH="1">
            <a:off x="4993920.0" y="5353200"/>
            <a:ext cx="2993760.0" cy="27072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importer_to_actions"/>
          <p:cNvCxnSpPr/>
          <p:nvPr/>
        </p:nvCxnSpPr>
        <p:spPr>
          <a:xfrm flipH="1">
            <a:off x="4993920.0" y="8060400"/>
            <a:ext cx="5132160.0" cy="7614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actions_to_autofill"/>
          <p:cNvCxnSpPr/>
          <p:nvPr/>
        </p:nvCxnSpPr>
        <p:spPr>
          <a:xfrm>
            <a:off x="6134400" y="8441100.0"/>
            <a:ext cx="541728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appcore_to_summary"/>
          <p:cNvCxnSpPr/>
          <p:nvPr/>
        </p:nvCxnSpPr>
        <p:spPr>
          <a:xfrm flipH="1">
            <a:off x="7560000.0" y="5353200"/>
            <a:ext cx="427680.0" cy="27072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importer_to_summary"/>
          <p:cNvCxnSpPr/>
          <p:nvPr/>
        </p:nvCxnSpPr>
        <p:spPr>
          <a:xfrm flipH="1">
            <a:off x="7560000.0" y="8060400"/>
            <a:ext cx="2566080.0" cy="7614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ummary_to_autofill"/>
          <p:cNvCxnSpPr/>
          <p:nvPr/>
        </p:nvCxnSpPr>
        <p:spPr>
          <a:xfrm>
            <a:off x="8700480" y="8441100.0"/>
            <a:ext cx="2851200" cy="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appcore_to_autosave"/>
          <p:cNvCxnSpPr/>
          <p:nvPr/>
        </p:nvCxnSpPr>
        <p:spPr>
          <a:xfrm flipH="1">
            <a:off x="4993920.0" y="5353200"/>
            <a:ext cx="2993760.0" cy="38916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appcore_to_logging"/>
          <p:cNvCxnSpPr/>
          <p:nvPr/>
        </p:nvCxnSpPr>
        <p:spPr>
          <a:xfrm flipH="1">
            <a:off x="7560000.0" y="5353200"/>
            <a:ext cx="427680.0" cy="38916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ppcore_to_reporter"/>
          <p:cNvCxnSpPr/>
          <p:nvPr/>
        </p:nvCxnSpPr>
        <p:spPr>
          <a:xfrm>
            <a:off x="7987680.0" y="5353200"/>
            <a:ext cx="2138400.0" cy="389160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reporter_to_files"/>
          <p:cNvCxnSpPr/>
          <p:nvPr/>
        </p:nvCxnSpPr>
        <p:spPr>
          <a:xfrm flipH="1" flipV="1">
            <a:off x="10696320" y="6326100.0"/>
            <a:ext cx="570240" cy="3257100.0"/>
          </a:xfrm>
          <a:prstGeom prst="bentConnector3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432000" y="432000"/>
            <a:ext cx="142560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Secuencia – editable</a:t>
            </a:r>
          </a:p>
        </p:txBody>
      </p:sp>
      <p:sp>
        <p:nvSpPr>
          <p:cNvPr id="3" name="header_subtitle"/>
          <p:cNvSpPr txBox="1"/>
          <p:nvPr/>
        </p:nvSpPr>
        <p:spPr>
          <a:xfrm>
            <a:off x="432000" y="1224000"/>
            <a:ext cx="1425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Flujo de investigación, importación y exporte generado con conectores nativos para edición inmediata.</a:t>
            </a:r>
          </a:p>
        </p:txBody>
      </p:sp>
      <p:sp>
        <p:nvSpPr>
          <p:cNvPr id="4" name="lifeline_gestion"/>
          <p:cNvSpPr/>
          <p:nvPr/>
        </p:nvSpPr>
        <p:spPr>
          <a:xfrm>
            <a:off x="-468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Gestión</a:t>
            </a:r>
          </a:p>
        </p:txBody>
      </p:sp>
      <p:cxnSp>
        <p:nvCxnSpPr>
          <p:cNvPr id="5" name="lifeline_line_gestion"/>
          <p:cNvCxnSpPr/>
          <p:nvPr/>
        </p:nvCxnSpPr>
        <p:spPr>
          <a:xfrm>
            <a:off x="432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feline_investigador"/>
          <p:cNvSpPr/>
          <p:nvPr/>
        </p:nvSpPr>
        <p:spPr>
          <a:xfrm>
            <a:off x="1314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Investigador</a:t>
            </a:r>
          </a:p>
        </p:txBody>
      </p:sp>
      <p:cxnSp>
        <p:nvCxnSpPr>
          <p:cNvPr id="7" name="lifeline_line_investigador"/>
          <p:cNvCxnSpPr/>
          <p:nvPr/>
        </p:nvCxnSpPr>
        <p:spPr>
          <a:xfrm>
            <a:off x="2214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feline_ui"/>
          <p:cNvSpPr/>
          <p:nvPr/>
        </p:nvSpPr>
        <p:spPr>
          <a:xfrm>
            <a:off x="3096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UI Python Tkinter GUI</a:t>
            </a:r>
            <a:br/>
            <a:r>
              <a:t>(FormularioInvestigacionesFraude)</a:t>
            </a:r>
          </a:p>
        </p:txBody>
      </p:sp>
      <p:cxnSp>
        <p:nvCxnSpPr>
          <p:cNvPr id="9" name="lifeline_line_ui"/>
          <p:cNvCxnSpPr/>
          <p:nvPr/>
        </p:nvCxnSpPr>
        <p:spPr>
          <a:xfrm>
            <a:off x="3996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feline_valid"/>
          <p:cNvSpPr/>
          <p:nvPr/>
        </p:nvSpPr>
        <p:spPr>
          <a:xfrm>
            <a:off x="4878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Validaciones (validators.py)</a:t>
            </a:r>
          </a:p>
        </p:txBody>
      </p:sp>
      <p:cxnSp>
        <p:nvCxnSpPr>
          <p:cNvPr id="11" name="lifeline_line_valid"/>
          <p:cNvCxnSpPr/>
          <p:nvPr/>
        </p:nvCxnSpPr>
        <p:spPr>
          <a:xfrm>
            <a:off x="5778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feline_catalogos"/>
          <p:cNvSpPr/>
          <p:nvPr/>
        </p:nvSpPr>
        <p:spPr>
          <a:xfrm>
            <a:off x="6660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Servicio de Catálogos/Autopoblado</a:t>
            </a:r>
          </a:p>
        </p:txBody>
      </p:sp>
      <p:cxnSp>
        <p:nvCxnSpPr>
          <p:cNvPr id="13" name="lifeline_line_catalogos"/>
          <p:cNvCxnSpPr/>
          <p:nvPr/>
        </p:nvCxnSpPr>
        <p:spPr>
          <a:xfrm>
            <a:off x="7560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feline_importador"/>
          <p:cNvSpPr/>
          <p:nvPr/>
        </p:nvSpPr>
        <p:spPr>
          <a:xfrm>
            <a:off x="8442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Importador CSV</a:t>
            </a:r>
          </a:p>
        </p:txBody>
      </p:sp>
      <p:cxnSp>
        <p:nvCxnSpPr>
          <p:cNvPr id="15" name="lifeline_line_importador"/>
          <p:cNvCxnSpPr/>
          <p:nvPr/>
        </p:nvCxnSpPr>
        <p:spPr>
          <a:xfrm>
            <a:off x="9342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feline_autosave"/>
          <p:cNvSpPr/>
          <p:nvPr/>
        </p:nvSpPr>
        <p:spPr>
          <a:xfrm>
            <a:off x="10224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Autoguardado</a:t>
            </a:r>
          </a:p>
        </p:txBody>
      </p:sp>
      <p:cxnSp>
        <p:nvCxnSpPr>
          <p:cNvPr id="17" name="lifeline_line_autosave"/>
          <p:cNvCxnSpPr/>
          <p:nvPr/>
        </p:nvCxnSpPr>
        <p:spPr>
          <a:xfrm>
            <a:off x="11124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feline_logs"/>
          <p:cNvSpPr/>
          <p:nvPr/>
        </p:nvSpPr>
        <p:spPr>
          <a:xfrm>
            <a:off x="12006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logger/logs.csv</a:t>
            </a:r>
          </a:p>
        </p:txBody>
      </p:sp>
      <p:cxnSp>
        <p:nvCxnSpPr>
          <p:cNvPr id="19" name="lifeline_line_logs"/>
          <p:cNvCxnSpPr/>
          <p:nvPr/>
        </p:nvCxnSpPr>
        <p:spPr>
          <a:xfrm>
            <a:off x="12906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feline_reporte"/>
          <p:cNvSpPr/>
          <p:nvPr/>
        </p:nvSpPr>
        <p:spPr>
          <a:xfrm>
            <a:off x="13788000" y="1800000"/>
            <a:ext cx="1800000" cy="936000"/>
          </a:xfrm>
          <a:prstGeom prst="rect">
            <a:avLst/>
          </a:prstGeom>
          <a:solidFill>
            <a:srgbClr val="E1F2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Reportes (report_builder)</a:t>
            </a:r>
          </a:p>
        </p:txBody>
      </p:sp>
      <p:cxnSp>
        <p:nvCxnSpPr>
          <p:cNvPr id="21" name="lifeline_line_reporte"/>
          <p:cNvCxnSpPr/>
          <p:nvPr/>
        </p:nvCxnSpPr>
        <p:spPr>
          <a:xfrm>
            <a:off x="14688000.0" y="2736000"/>
            <a:ext cx="0.0" cy="7164000"/>
          </a:xfrm>
          <a:prstGeom prst="line">
            <a:avLst/>
          </a:prstGeom>
          <a:ln w="190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sg_1_gestion_to_investigador"/>
          <p:cNvCxnSpPr/>
          <p:nvPr/>
        </p:nvCxnSpPr>
        <p:spPr>
          <a:xfrm>
            <a:off x="432000.0" y="2160000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_1"/>
          <p:cNvSpPr txBox="1"/>
          <p:nvPr/>
        </p:nvSpPr>
        <p:spPr>
          <a:xfrm>
            <a:off x="432000" y="1908001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1. Asigna caso y solicita informe</a:t>
            </a:r>
          </a:p>
        </p:txBody>
      </p:sp>
      <p:cxnSp>
        <p:nvCxnSpPr>
          <p:cNvPr id="24" name="msg_2_investigador_to_ui"/>
          <p:cNvCxnSpPr/>
          <p:nvPr/>
        </p:nvCxnSpPr>
        <p:spPr>
          <a:xfrm>
            <a:off x="2214000.0" y="2411999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label_2"/>
          <p:cNvSpPr txBox="1"/>
          <p:nvPr/>
        </p:nvSpPr>
        <p:spPr>
          <a:xfrm>
            <a:off x="2214000" y="2160000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2. Abre aplicación y selecciona pestañas</a:t>
            </a:r>
          </a:p>
        </p:txBody>
      </p:sp>
      <p:sp>
        <p:nvSpPr>
          <p:cNvPr id="26" name="note_Entrada ma"/>
          <p:cNvSpPr/>
          <p:nvPr/>
        </p:nvSpPr>
        <p:spPr>
          <a:xfrm>
            <a:off x="1323000" y="3167996"/>
            <a:ext cx="5346000" cy="503999"/>
          </a:xfrm>
          <a:prstGeom prst="rect">
            <a:avLst/>
          </a:prstGeom>
          <a:solidFill>
            <a:srgbClr val="EDF2F7"/>
          </a:solidFill>
          <a:ln>
            <a:solidFill>
              <a:srgbClr val="40404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Entrada manual de datos</a:t>
            </a:r>
          </a:p>
        </p:txBody>
      </p:sp>
      <p:cxnSp>
        <p:nvCxnSpPr>
          <p:cNvPr id="27" name="msg_3_investigador_to_ui"/>
          <p:cNvCxnSpPr/>
          <p:nvPr/>
        </p:nvCxnSpPr>
        <p:spPr>
          <a:xfrm>
            <a:off x="2214000.0" y="2663998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label_3"/>
          <p:cNvSpPr txBox="1"/>
          <p:nvPr/>
        </p:nvSpPr>
        <p:spPr>
          <a:xfrm>
            <a:off x="2214000" y="2411999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3. Escribe campos (Entry/Combobox/Text)</a:t>
            </a:r>
          </a:p>
        </p:txBody>
      </p:sp>
      <p:cxnSp>
        <p:nvCxnSpPr>
          <p:cNvPr id="29" name="msg_4_ui_to_valid"/>
          <p:cNvCxnSpPr/>
          <p:nvPr/>
        </p:nvCxnSpPr>
        <p:spPr>
          <a:xfrm>
            <a:off x="3996000.0" y="2915997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abel_4"/>
          <p:cNvSpPr txBox="1"/>
          <p:nvPr/>
        </p:nvSpPr>
        <p:spPr>
          <a:xfrm>
            <a:off x="3996000" y="2663998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4. FieldValidator valida formato/montos/fechas</a:t>
            </a:r>
          </a:p>
        </p:txBody>
      </p:sp>
      <p:cxnSp>
        <p:nvCxnSpPr>
          <p:cNvPr id="31" name="msg_5_valid_to_ui"/>
          <p:cNvCxnSpPr/>
          <p:nvPr/>
        </p:nvCxnSpPr>
        <p:spPr>
          <a:xfrm flipH="1">
            <a:off x="3996000.0" y="3167996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abel_5"/>
          <p:cNvSpPr txBox="1"/>
          <p:nvPr/>
        </p:nvSpPr>
        <p:spPr>
          <a:xfrm>
            <a:off x="3996000" y="2915997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5. Errores inline o messagebox</a:t>
            </a:r>
          </a:p>
        </p:txBody>
      </p:sp>
      <p:cxnSp>
        <p:nvCxnSpPr>
          <p:cNvPr id="33" name="msg_6_ui_to_logs"/>
          <p:cNvCxnSpPr/>
          <p:nvPr/>
        </p:nvCxnSpPr>
        <p:spPr>
          <a:xfrm>
            <a:off x="3996000.0" y="3419995"/>
            <a:ext cx="8910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abel_6"/>
          <p:cNvSpPr txBox="1"/>
          <p:nvPr/>
        </p:nvSpPr>
        <p:spPr>
          <a:xfrm>
            <a:off x="3996000" y="3167996"/>
            <a:ext cx="934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6. log_event(tipo="validacion/navegacion")</a:t>
            </a:r>
          </a:p>
        </p:txBody>
      </p:sp>
      <p:cxnSp>
        <p:nvCxnSpPr>
          <p:cNvPr id="35" name="msg_7_ui_to_autosave"/>
          <p:cNvCxnSpPr/>
          <p:nvPr/>
        </p:nvCxnSpPr>
        <p:spPr>
          <a:xfrm>
            <a:off x="3996000.0" y="3671994"/>
            <a:ext cx="7128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label_7"/>
          <p:cNvSpPr txBox="1"/>
          <p:nvPr/>
        </p:nvSpPr>
        <p:spPr>
          <a:xfrm>
            <a:off x="3996000" y="3419995"/>
            <a:ext cx="75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7. request_autosave() (debounce 4s)</a:t>
            </a:r>
          </a:p>
        </p:txBody>
      </p:sp>
      <p:cxnSp>
        <p:nvCxnSpPr>
          <p:cNvPr id="37" name="msg_8_autosave_to_ui"/>
          <p:cNvCxnSpPr/>
          <p:nvPr/>
        </p:nvCxnSpPr>
        <p:spPr>
          <a:xfrm flipH="1">
            <a:off x="3996000.0" y="3923993"/>
            <a:ext cx="7128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abel_8"/>
          <p:cNvSpPr txBox="1"/>
          <p:nvPr/>
        </p:nvSpPr>
        <p:spPr>
          <a:xfrm>
            <a:off x="3996000" y="3671994"/>
            <a:ext cx="75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8. save_auto() + temp_version</a:t>
            </a:r>
          </a:p>
        </p:txBody>
      </p:sp>
      <p:sp>
        <p:nvSpPr>
          <p:cNvPr id="39" name="note_Carga masi"/>
          <p:cNvSpPr/>
          <p:nvPr/>
        </p:nvSpPr>
        <p:spPr>
          <a:xfrm>
            <a:off x="2926800" y="5183988"/>
            <a:ext cx="3920400" cy="503999"/>
          </a:xfrm>
          <a:prstGeom prst="rect">
            <a:avLst/>
          </a:prstGeom>
          <a:solidFill>
            <a:srgbClr val="EDF2F7"/>
          </a:solidFill>
          <a:ln>
            <a:solidFill>
              <a:srgbClr val="40404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Carga masiva</a:t>
            </a:r>
          </a:p>
        </p:txBody>
      </p:sp>
      <p:cxnSp>
        <p:nvCxnSpPr>
          <p:cNvPr id="40" name="msg_9_investigador_to_ui"/>
          <p:cNvCxnSpPr/>
          <p:nvPr/>
        </p:nvCxnSpPr>
        <p:spPr>
          <a:xfrm>
            <a:off x="2214000.0" y="4175992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abel_9"/>
          <p:cNvSpPr txBox="1"/>
          <p:nvPr/>
        </p:nvSpPr>
        <p:spPr>
          <a:xfrm>
            <a:off x="2214000" y="3923993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9. Acciones &gt; Importar CSV</a:t>
            </a:r>
          </a:p>
        </p:txBody>
      </p:sp>
      <p:cxnSp>
        <p:nvCxnSpPr>
          <p:cNvPr id="42" name="msg_10_ui_to_importador"/>
          <p:cNvCxnSpPr/>
          <p:nvPr/>
        </p:nvCxnSpPr>
        <p:spPr>
          <a:xfrm>
            <a:off x="3996000.0" y="4427991"/>
            <a:ext cx="5346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label_10"/>
          <p:cNvSpPr txBox="1"/>
          <p:nvPr/>
        </p:nvSpPr>
        <p:spPr>
          <a:xfrm>
            <a:off x="3996000" y="4175992"/>
            <a:ext cx="5778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10. _start_background_import(worker)</a:t>
            </a:r>
          </a:p>
        </p:txBody>
      </p:sp>
      <p:cxnSp>
        <p:nvCxnSpPr>
          <p:cNvPr id="44" name="msg_11_importador_to_ui"/>
          <p:cNvCxnSpPr/>
          <p:nvPr/>
        </p:nvCxnSpPr>
        <p:spPr>
          <a:xfrm flipH="1">
            <a:off x="3996000.0" y="4679990"/>
            <a:ext cx="5346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label_11"/>
          <p:cNvSpPr txBox="1"/>
          <p:nvPr/>
        </p:nvSpPr>
        <p:spPr>
          <a:xfrm>
            <a:off x="3996000" y="4427991"/>
            <a:ext cx="5778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11. payload de filas normalizadas</a:t>
            </a:r>
          </a:p>
        </p:txBody>
      </p:sp>
      <p:cxnSp>
        <p:nvCxnSpPr>
          <p:cNvPr id="46" name="msg_12_ui_to_ui"/>
          <p:cNvCxnSpPr/>
          <p:nvPr/>
        </p:nvCxnSpPr>
        <p:spPr>
          <a:xfrm>
            <a:off x="3996000.0" y="4931989"/>
            <a:ext cx="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label_12"/>
          <p:cNvSpPr txBox="1"/>
          <p:nvPr/>
        </p:nvSpPr>
        <p:spPr>
          <a:xfrm>
            <a:off x="3996000" y="4679990"/>
            <a:ext cx="43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12. _apply_*_import_payload pobla pestañas (Caso/Cliente/Equipo/Producto/Riesgo/Norma/Resumen)</a:t>
            </a:r>
          </a:p>
        </p:txBody>
      </p:sp>
      <p:cxnSp>
        <p:nvCxnSpPr>
          <p:cNvPr id="48" name="msg_13_ui_to_valid"/>
          <p:cNvCxnSpPr/>
          <p:nvPr/>
        </p:nvCxnSpPr>
        <p:spPr>
          <a:xfrm>
            <a:off x="3996000.0" y="5183988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label_13"/>
          <p:cNvSpPr txBox="1"/>
          <p:nvPr/>
        </p:nvSpPr>
        <p:spPr>
          <a:xfrm>
            <a:off x="3996000" y="4931989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13. Validación por fila y duplicados (cliente/colaborador/riesgo/producto/norma)</a:t>
            </a:r>
          </a:p>
        </p:txBody>
      </p:sp>
      <p:cxnSp>
        <p:nvCxnSpPr>
          <p:cNvPr id="50" name="msg_14_ui_to_logs"/>
          <p:cNvCxnSpPr/>
          <p:nvPr/>
        </p:nvCxnSpPr>
        <p:spPr>
          <a:xfrm>
            <a:off x="3996000.0" y="5435987"/>
            <a:ext cx="8910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label_14"/>
          <p:cNvSpPr txBox="1"/>
          <p:nvPr/>
        </p:nvSpPr>
        <p:spPr>
          <a:xfrm>
            <a:off x="3996000" y="5183988"/>
            <a:ext cx="934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14. log_event(subtipo="import")</a:t>
            </a:r>
          </a:p>
        </p:txBody>
      </p:sp>
      <p:cxnSp>
        <p:nvCxnSpPr>
          <p:cNvPr id="52" name="msg_15_ui_to_autosave"/>
          <p:cNvCxnSpPr/>
          <p:nvPr/>
        </p:nvCxnSpPr>
        <p:spPr>
          <a:xfrm>
            <a:off x="3996000.0" y="5687986"/>
            <a:ext cx="7128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label_15"/>
          <p:cNvSpPr txBox="1"/>
          <p:nvPr/>
        </p:nvSpPr>
        <p:spPr>
          <a:xfrm>
            <a:off x="3996000" y="5435987"/>
            <a:ext cx="75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15. _notify_dataset_changed()</a:t>
            </a:r>
          </a:p>
        </p:txBody>
      </p:sp>
      <p:sp>
        <p:nvSpPr>
          <p:cNvPr id="54" name="note_Autocomple"/>
          <p:cNvSpPr/>
          <p:nvPr/>
        </p:nvSpPr>
        <p:spPr>
          <a:xfrm>
            <a:off x="4619700" y="7199980"/>
            <a:ext cx="4098599" cy="503999"/>
          </a:xfrm>
          <a:prstGeom prst="rect">
            <a:avLst/>
          </a:prstGeom>
          <a:solidFill>
            <a:srgbClr val="EDF2F7"/>
          </a:solidFill>
          <a:ln>
            <a:solidFill>
              <a:srgbClr val="40404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Autocompletado/Autopoblado</a:t>
            </a:r>
          </a:p>
        </p:txBody>
      </p:sp>
      <p:cxnSp>
        <p:nvCxnSpPr>
          <p:cNvPr id="55" name="msg_16_investigador_to_ui"/>
          <p:cNvCxnSpPr/>
          <p:nvPr/>
        </p:nvCxnSpPr>
        <p:spPr>
          <a:xfrm>
            <a:off x="2214000.0" y="5939985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label_16"/>
          <p:cNvSpPr txBox="1"/>
          <p:nvPr/>
        </p:nvSpPr>
        <p:spPr>
          <a:xfrm>
            <a:off x="2214000" y="5687986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16. Ingresa IDs (cliente/colaborador/producto/caso/riesgo/norma)</a:t>
            </a:r>
          </a:p>
        </p:txBody>
      </p:sp>
      <p:cxnSp>
        <p:nvCxnSpPr>
          <p:cNvPr id="57" name="msg_17_ui_to_catalogos"/>
          <p:cNvCxnSpPr/>
          <p:nvPr/>
        </p:nvCxnSpPr>
        <p:spPr>
          <a:xfrm>
            <a:off x="3996000.0" y="6191984"/>
            <a:ext cx="3564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label_17"/>
          <p:cNvSpPr txBox="1"/>
          <p:nvPr/>
        </p:nvSpPr>
        <p:spPr>
          <a:xfrm>
            <a:off x="3996000" y="5939985"/>
            <a:ext cx="39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17. lookup en catálogos locales y snapshots</a:t>
            </a:r>
          </a:p>
        </p:txBody>
      </p:sp>
      <p:cxnSp>
        <p:nvCxnSpPr>
          <p:cNvPr id="59" name="msg_18_catalogos_to_ui"/>
          <p:cNvCxnSpPr/>
          <p:nvPr/>
        </p:nvCxnSpPr>
        <p:spPr>
          <a:xfrm flipH="1">
            <a:off x="3996000.0" y="6443983"/>
            <a:ext cx="3564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label_18"/>
          <p:cNvSpPr txBox="1"/>
          <p:nvPr/>
        </p:nvSpPr>
        <p:spPr>
          <a:xfrm>
            <a:off x="3996000" y="6191984"/>
            <a:ext cx="399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18. Datos encontrados + metadatos</a:t>
            </a:r>
          </a:p>
        </p:txBody>
      </p:sp>
      <p:cxnSp>
        <p:nvCxnSpPr>
          <p:cNvPr id="61" name="msg_19_ui_to_valid"/>
          <p:cNvCxnSpPr/>
          <p:nvPr/>
        </p:nvCxnSpPr>
        <p:spPr>
          <a:xfrm>
            <a:off x="3996000.0" y="6695982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label_19"/>
          <p:cNvSpPr txBox="1"/>
          <p:nvPr/>
        </p:nvSpPr>
        <p:spPr>
          <a:xfrm>
            <a:off x="3996000" y="6443983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19. should_autofill_field respeta campos editados</a:t>
            </a:r>
          </a:p>
        </p:txBody>
      </p:sp>
      <p:cxnSp>
        <p:nvCxnSpPr>
          <p:cNvPr id="63" name="msg_20_ui_to_ui"/>
          <p:cNvCxnSpPr/>
          <p:nvPr/>
        </p:nvCxnSpPr>
        <p:spPr>
          <a:xfrm>
            <a:off x="3996000.0" y="6947981"/>
            <a:ext cx="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label_20"/>
          <p:cNvSpPr txBox="1"/>
          <p:nvPr/>
        </p:nvSpPr>
        <p:spPr>
          <a:xfrm>
            <a:off x="3996000" y="6695982"/>
            <a:ext cx="43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20. Actualiza combobox/entries/tablas</a:t>
            </a:r>
          </a:p>
        </p:txBody>
      </p:sp>
      <p:cxnSp>
        <p:nvCxnSpPr>
          <p:cNvPr id="65" name="msg_21_valid_to_catalogos"/>
          <p:cNvCxnSpPr/>
          <p:nvPr/>
        </p:nvCxnSpPr>
        <p:spPr>
          <a:xfrm>
            <a:off x="5778000.0" y="7199980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abel_21"/>
          <p:cNvSpPr txBox="1"/>
          <p:nvPr/>
        </p:nvSpPr>
        <p:spPr>
          <a:xfrm>
            <a:off x="5778000" y="6947981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21. Validación de integridad referencial (IDs existen en catálogos/snapshots)</a:t>
            </a:r>
          </a:p>
        </p:txBody>
      </p:sp>
      <p:cxnSp>
        <p:nvCxnSpPr>
          <p:cNvPr id="67" name="msg_22_ui_to_logs"/>
          <p:cNvCxnSpPr/>
          <p:nvPr/>
        </p:nvCxnSpPr>
        <p:spPr>
          <a:xfrm>
            <a:off x="3996000.0" y="7451979"/>
            <a:ext cx="8910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label_22"/>
          <p:cNvSpPr txBox="1"/>
          <p:nvPr/>
        </p:nvSpPr>
        <p:spPr>
          <a:xfrm>
            <a:off x="3996000" y="7199980"/>
            <a:ext cx="934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22. log_event(subtipo="autofill")</a:t>
            </a:r>
          </a:p>
        </p:txBody>
      </p:sp>
      <p:sp>
        <p:nvSpPr>
          <p:cNvPr id="69" name="note_Autosave y"/>
          <p:cNvSpPr/>
          <p:nvPr/>
        </p:nvSpPr>
        <p:spPr>
          <a:xfrm>
            <a:off x="432000" y="8207976"/>
            <a:ext cx="5346000" cy="503999"/>
          </a:xfrm>
          <a:prstGeom prst="rect">
            <a:avLst/>
          </a:prstGeom>
          <a:solidFill>
            <a:srgbClr val="EDF2F7"/>
          </a:solidFill>
          <a:ln>
            <a:solidFill>
              <a:srgbClr val="40404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Autosave y logging continuos</a:t>
            </a:r>
          </a:p>
        </p:txBody>
      </p:sp>
      <p:cxnSp>
        <p:nvCxnSpPr>
          <p:cNvPr id="70" name="msg_23_ui_to_autosave"/>
          <p:cNvCxnSpPr/>
          <p:nvPr/>
        </p:nvCxnSpPr>
        <p:spPr>
          <a:xfrm>
            <a:off x="3996000.0" y="7703978"/>
            <a:ext cx="7128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label_23"/>
          <p:cNvSpPr txBox="1"/>
          <p:nvPr/>
        </p:nvSpPr>
        <p:spPr>
          <a:xfrm>
            <a:off x="3996000" y="7451979"/>
            <a:ext cx="75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23. autosave_cycle() -&gt; autosaves/&lt;caso&gt;/auto_N.json</a:t>
            </a:r>
          </a:p>
        </p:txBody>
      </p:sp>
      <p:cxnSp>
        <p:nvCxnSpPr>
          <p:cNvPr id="72" name="msg_24_ui_to_logs"/>
          <p:cNvCxnSpPr/>
          <p:nvPr/>
        </p:nvCxnSpPr>
        <p:spPr>
          <a:xfrm>
            <a:off x="3996000.0" y="7955977"/>
            <a:ext cx="8910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label_24"/>
          <p:cNvSpPr txBox="1"/>
          <p:nvPr/>
        </p:nvSpPr>
        <p:spPr>
          <a:xfrm>
            <a:off x="3996000" y="7703978"/>
            <a:ext cx="934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24. Encola evento y flush a logs.csv + external drive</a:t>
            </a:r>
          </a:p>
        </p:txBody>
      </p:sp>
      <p:sp>
        <p:nvSpPr>
          <p:cNvPr id="74" name="note_Guardado f"/>
          <p:cNvSpPr/>
          <p:nvPr/>
        </p:nvSpPr>
        <p:spPr>
          <a:xfrm>
            <a:off x="3015900" y="8963973"/>
            <a:ext cx="4455000" cy="503999"/>
          </a:xfrm>
          <a:prstGeom prst="rect">
            <a:avLst/>
          </a:prstGeom>
          <a:solidFill>
            <a:srgbClr val="EDF2F7"/>
          </a:solidFill>
          <a:ln>
            <a:solidFill>
              <a:srgbClr val="404040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Guardado final</a:t>
            </a:r>
          </a:p>
        </p:txBody>
      </p:sp>
      <p:cxnSp>
        <p:nvCxnSpPr>
          <p:cNvPr id="75" name="msg_25_investigador_to_ui"/>
          <p:cNvCxnSpPr/>
          <p:nvPr/>
        </p:nvCxnSpPr>
        <p:spPr>
          <a:xfrm>
            <a:off x="2214000.0" y="8207976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label_25"/>
          <p:cNvSpPr txBox="1"/>
          <p:nvPr/>
        </p:nvSpPr>
        <p:spPr>
          <a:xfrm>
            <a:off x="2214000" y="7955977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25. Acciones &gt; Guardar y enviar</a:t>
            </a:r>
          </a:p>
        </p:txBody>
      </p:sp>
      <p:cxnSp>
        <p:nvCxnSpPr>
          <p:cNvPr id="77" name="msg_26_ui_to_valid"/>
          <p:cNvCxnSpPr/>
          <p:nvPr/>
        </p:nvCxnSpPr>
        <p:spPr>
          <a:xfrm>
            <a:off x="3996000.0" y="8459975"/>
            <a:ext cx="178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label_26"/>
          <p:cNvSpPr txBox="1"/>
          <p:nvPr/>
        </p:nvSpPr>
        <p:spPr>
          <a:xfrm>
            <a:off x="3996000" y="8207976"/>
            <a:ext cx="221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26. Validación global de todas las pestañas</a:t>
            </a:r>
          </a:p>
        </p:txBody>
      </p:sp>
      <p:cxnSp>
        <p:nvCxnSpPr>
          <p:cNvPr id="79" name="msg_27_ui_to_reporte"/>
          <p:cNvCxnSpPr/>
          <p:nvPr/>
        </p:nvCxnSpPr>
        <p:spPr>
          <a:xfrm>
            <a:off x="3996000.0" y="8711974"/>
            <a:ext cx="10692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label_27"/>
          <p:cNvSpPr txBox="1"/>
          <p:nvPr/>
        </p:nvSpPr>
        <p:spPr>
          <a:xfrm>
            <a:off x="3996000" y="8459975"/>
            <a:ext cx="11124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27. build_report + build_docx + build_editable_deck</a:t>
            </a:r>
          </a:p>
        </p:txBody>
      </p:sp>
      <p:cxnSp>
        <p:nvCxnSpPr>
          <p:cNvPr id="81" name="msg_28_reporte_to_investigador"/>
          <p:cNvCxnSpPr/>
          <p:nvPr/>
        </p:nvCxnSpPr>
        <p:spPr>
          <a:xfrm flipH="1">
            <a:off x="2214000.0" y="8963973"/>
            <a:ext cx="12474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label_28"/>
          <p:cNvSpPr txBox="1"/>
          <p:nvPr/>
        </p:nvSpPr>
        <p:spPr>
          <a:xfrm>
            <a:off x="2214000" y="8711974"/>
            <a:ext cx="12906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28. Exporta JSON/CSV/Markdown/DOCX/PDF/PPTX</a:t>
            </a:r>
          </a:p>
        </p:txBody>
      </p:sp>
      <p:cxnSp>
        <p:nvCxnSpPr>
          <p:cNvPr id="83" name="msg_29_ui_to_autosave"/>
          <p:cNvCxnSpPr/>
          <p:nvPr/>
        </p:nvCxnSpPr>
        <p:spPr>
          <a:xfrm>
            <a:off x="3996000.0" y="9215972"/>
            <a:ext cx="7128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label_29"/>
          <p:cNvSpPr txBox="1"/>
          <p:nvPr/>
        </p:nvSpPr>
        <p:spPr>
          <a:xfrm>
            <a:off x="3996000" y="8963973"/>
            <a:ext cx="75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29. save_temp_version() + backup en external drive</a:t>
            </a:r>
          </a:p>
        </p:txBody>
      </p:sp>
      <p:cxnSp>
        <p:nvCxnSpPr>
          <p:cNvPr id="85" name="msg_30_ui_to_logs"/>
          <p:cNvCxnSpPr/>
          <p:nvPr/>
        </p:nvCxnSpPr>
        <p:spPr>
          <a:xfrm>
            <a:off x="3996000.0" y="9467971"/>
            <a:ext cx="8910000.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label_30"/>
          <p:cNvSpPr txBox="1"/>
          <p:nvPr/>
        </p:nvSpPr>
        <p:spPr>
          <a:xfrm>
            <a:off x="3996000" y="9215972"/>
            <a:ext cx="934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30. log_event("export")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